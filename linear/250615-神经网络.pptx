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27.xml" ContentType="application/vnd.openxmlformats-officedocument.theme+xml"/>
  <Override PartName="/ppt/theme/theme15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702" r:id="rId26"/>
    <p:sldMasterId id="2147483704" r:id="rId27"/>
  </p:sldMasterIdLst>
  <p:notesMasterIdLst>
    <p:notesMasterId r:id="rId28"/>
  </p:notes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zh-CN" sz="4400" strike="noStrike" u="none">
                <a:solidFill>
                  <a:srgbClr val="000000"/>
                </a:solidFill>
                <a:uFillTx/>
                <a:latin typeface="Arial"/>
              </a:rPr>
              <a:t>单击以移动幻灯片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trike="noStrike" u="none">
                <a:solidFill>
                  <a:srgbClr val="000000"/>
                </a:solidFill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dt" idx="4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ftr" idx="4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 type="sldNum" idx="4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A3B80D5-C86F-43FD-A6DD-358AA6E978D2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34308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Calibri"/>
                <a:ea typeface="宋体"/>
              </a:defRPr>
            </a:lvl1pPr>
          </a:lstStyle>
          <a:p>
            <a:pPr indent="0" algn="r" defTabSz="343080">
              <a:lnSpc>
                <a:spcPct val="100000"/>
              </a:lnSpc>
              <a:buNone/>
              <a:tabLst>
                <a:tab algn="l" pos="0"/>
              </a:tabLst>
            </a:pPr>
            <a:fld id="{7A2F2CC4-C3FA-49C7-9CE1-C617895ABED4}" type="slidenum">
              <a:rPr b="0" lang="en-US" sz="1200" strike="noStrike" u="none">
                <a:solidFill>
                  <a:srgbClr val="000000"/>
                </a:solidFill>
                <a:uFillTx/>
                <a:latin typeface="Calibri"/>
                <a:ea typeface="宋体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7EB20A-E7C8-4620-B888-045817C28BAB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19AB7E-F309-4F2B-B6FC-D8CA10370419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28FE72-E083-4481-BD6B-F93C3F8CB90D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5B42DF-7405-4BD4-B930-191AC7754020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D9C06B-0032-4E3E-9968-EDE625771E35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2E7206-B14F-4850-84F5-F0F41129814F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94EE75-FCE2-4079-A86F-5894AF7C8506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2CA2BF-6A4A-4E98-88B7-ECFF81E6A102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A7CAF2-A5D6-423C-BBF2-EBEBBAEAC07D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2D27EF-37CA-4267-9F07-8F0597A60741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86FB49-3FF6-4FC2-A168-D7BB79719DCF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48B42B-9301-4EBA-8D6E-A58221EF8253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FBC74C-B17B-47AE-8AE8-656AFB58C7F6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16C8D7-4E2F-46D0-B944-B39CDFAFFDB7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366995-8B59-4DEC-89CE-E32945762FC8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29F95D-96E8-4AB0-8932-6AA31C313733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B5F5C9-7256-47B6-94FA-BB30BCAA186E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B549DC-7644-473E-A84A-20E1D51A7FF4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E61E14-3848-43AA-9874-A3D4F99353DD}" type="slidenum"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34308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uFillTx/>
                <a:latin typeface="Calibri"/>
                <a:ea typeface="宋体"/>
              </a:defRPr>
            </a:lvl1pPr>
          </a:lstStyle>
          <a:p>
            <a:pPr indent="0" algn="r" defTabSz="343080">
              <a:lnSpc>
                <a:spcPct val="100000"/>
              </a:lnSpc>
              <a:buNone/>
              <a:tabLst>
                <a:tab algn="l" pos="0"/>
              </a:tabLst>
            </a:pPr>
            <a:fld id="{D87E1A76-0B98-42C6-9DBC-19C9A73E474B}" type="slidenum">
              <a:rPr b="0" lang="en-US" sz="1200" strike="noStrike" u="none">
                <a:solidFill>
                  <a:srgbClr val="000000"/>
                </a:solidFill>
                <a:uFillTx/>
                <a:latin typeface="Calibri"/>
                <a:ea typeface="宋体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E7966B-68CF-4035-85B5-E55E6440DA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8E4E80E-B57A-4BE8-AF46-5A019BC196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70EC825-AD86-4CFA-877C-9AB06EDA46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D7DFB9E-4213-4E2E-B679-06BD06ACD9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D18994B-5715-4DDA-A23B-6E981FBA94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1EA4400-1C3A-42B1-9C51-3D68CE0DEF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DE20115-C149-4735-A79B-C7315A67F6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A1E1671-A6FD-4417-995A-600D10AD92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CC92141-6327-4B65-A798-C2E042CA84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6B46E21-142C-46B5-8FC0-1B10B25D36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06FC541-5BC5-4AE2-846E-9F9917C905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默认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默认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默认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默认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默认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默认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默认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默认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默认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默认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默认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默认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9CE786F-DCED-4C37-8A73-DB67CBFDA1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F0E32F0-D68F-4D5B-B0FA-ECF81B6B5C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D023CA-DE65-4B2C-806A-7D5E448ACB0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B8A85E-C943-425A-9891-CE0E384C88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74BC25-A279-429F-857A-70B3C01489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BC0EAE-7C2C-44A8-BE65-DC27237D85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753894-6655-42B3-BD41-3D331DC6C45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576E93-F677-4C6B-AE01-466E797F460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084B7E-2118-490B-A411-3054EC7F53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3AB35B-AF15-47FF-8026-03BA1EBF2CB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4F396B-BD33-4DCA-A844-2506179FA08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68AF97-8227-499A-8BD5-2952CE916E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3A7385-BC8F-4BA5-9B4D-DC77EBAAD5E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zh-CN" sz="44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Arial"/>
                <a:ea typeface="微软雅黑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E1BEF99B-A44D-449D-B306-6C0E48191DDB}" type="slidenum">
              <a:rPr b="0" lang="en-US" sz="1800" strike="noStrike" u="none">
                <a:solidFill>
                  <a:schemeClr val="dk1"/>
                </a:solidFill>
                <a:uFillTx/>
                <a:latin typeface="Arial"/>
                <a:ea typeface="微软雅黑"/>
              </a:rPr>
              <a:t>&lt;编号&gt;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dt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rgbClr val="000000"/>
                </a:solidFill>
                <a:uFillTx/>
                <a:latin typeface="Arial"/>
              </a:rPr>
              <a:t>单击以编辑标题文本格式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Arial"/>
                <a:ea typeface="微软雅黑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D6DBE662-B421-4E56-928A-F739F7B44DF0}" type="slidenum">
              <a:rPr b="0" lang="en-US" sz="1800" strike="noStrike" u="none">
                <a:solidFill>
                  <a:schemeClr val="dk1"/>
                </a:solidFill>
                <a:uFillTx/>
                <a:latin typeface="Arial"/>
                <a:ea typeface="微软雅黑"/>
              </a:rPr>
              <a:t>1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rgbClr val="000000"/>
                </a:solidFill>
                <a:uFillTx/>
                <a:latin typeface="Arial"/>
              </a:rPr>
              <a:t>点击以编辑提纲文本格式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rgbClr val="000000"/>
                </a:solidFill>
                <a:uFillTx/>
                <a:latin typeface="Arial"/>
              </a:rPr>
              <a:t>第二提纲级别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rgbClr val="000000"/>
                </a:solidFill>
                <a:uFillTx/>
                <a:latin typeface="Arial"/>
              </a:rPr>
              <a:t>第三提纲级别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rgbClr val="000000"/>
                </a:solidFill>
                <a:uFillTx/>
                <a:latin typeface="Arial"/>
              </a:rPr>
              <a:t>第四提纲级别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000000"/>
                </a:solidFill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000000"/>
                </a:solidFill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rgbClr val="000000"/>
                </a:solidFill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www.youtube.com/watch?v=zxQyTK8quyY" TargetMode="External"/><Relationship Id="rId3" Type="http://schemas.openxmlformats.org/officeDocument/2006/relationships/hyperlink" Target="https://www.youtube.com/watch?v=ugWDIIOHtPA&amp;t=1747s" TargetMode="External"/><Relationship Id="rId4" Type="http://schemas.openxmlformats.org/officeDocument/2006/relationships/hyperlink" Target="https://www.youtube.com/watch?v=eMlx5fFNoYc" TargetMode="External"/><Relationship Id="rId5" Type="http://schemas.openxmlformats.org/officeDocument/2006/relationships/hyperlink" Target="https://www.youtube.com/watch?v=wjZofJX0v4M" TargetMode="External"/><Relationship Id="rId6" Type="http://schemas.openxmlformats.org/officeDocument/2006/relationships/hyperlink" Target="https://docs.qq.com/doc/DVmFPb21GaGJoSHph" TargetMode="External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21"/>
          <p:cNvSpPr/>
          <p:nvPr/>
        </p:nvSpPr>
        <p:spPr>
          <a:xfrm>
            <a:off x="3355200" y="4372200"/>
            <a:ext cx="323208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70" strike="noStrike" u="none">
                <a:solidFill>
                  <a:srgbClr val="000000"/>
                </a:solidFill>
                <a:uFillTx/>
                <a:latin typeface="微软雅黑"/>
                <a:ea typeface="微软雅黑"/>
              </a:rPr>
              <a:t>负责人：王鹏程（</a:t>
            </a:r>
            <a:r>
              <a:rPr b="1" lang="en-US" sz="1870" strike="noStrike" u="none">
                <a:solidFill>
                  <a:srgbClr val="000000"/>
                </a:solidFill>
                <a:uFillTx/>
                <a:latin typeface="微软雅黑"/>
                <a:ea typeface="微软雅黑"/>
              </a:rPr>
              <a:t>2024</a:t>
            </a:r>
            <a:r>
              <a:rPr b="1" lang="zh-CN" sz="1870" strike="noStrike" u="none">
                <a:solidFill>
                  <a:srgbClr val="000000"/>
                </a:solidFill>
                <a:uFillTx/>
                <a:latin typeface="微软雅黑"/>
                <a:ea typeface="微软雅黑"/>
              </a:rPr>
              <a:t>级）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矩形 22"/>
          <p:cNvSpPr/>
          <p:nvPr/>
        </p:nvSpPr>
        <p:spPr>
          <a:xfrm>
            <a:off x="3278520" y="2070720"/>
            <a:ext cx="8545680" cy="9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330" strike="noStrike" u="none">
                <a:solidFill>
                  <a:srgbClr val="a41c34"/>
                </a:solidFill>
                <a:uFillTx/>
                <a:latin typeface="微软雅黑"/>
                <a:ea typeface="微软雅黑"/>
              </a:rPr>
              <a:t>(1) </a:t>
            </a:r>
            <a:r>
              <a:rPr b="1" lang="zh-CN" sz="5330" strike="noStrike" u="none">
                <a:solidFill>
                  <a:srgbClr val="a41c34"/>
                </a:solidFill>
                <a:uFillTx/>
                <a:latin typeface="微软雅黑"/>
                <a:ea typeface="微软雅黑"/>
              </a:rPr>
              <a:t>深度学习</a:t>
            </a:r>
            <a:endParaRPr b="0" lang="en-US" sz="53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10" name="直接连接符 23"/>
          <p:cNvCxnSpPr/>
          <p:nvPr/>
        </p:nvCxnSpPr>
        <p:spPr>
          <a:xfrm flipH="1">
            <a:off x="3389760" y="3866760"/>
            <a:ext cx="6710400" cy="10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1" name="Freeform 5"/>
          <p:cNvSpPr/>
          <p:nvPr/>
        </p:nvSpPr>
        <p:spPr>
          <a:xfrm>
            <a:off x="0" y="1552320"/>
            <a:ext cx="2386800" cy="3825360"/>
          </a:xfrm>
          <a:custGeom>
            <a:avLst/>
            <a:gdLst>
              <a:gd name="textAreaLeft" fmla="*/ 0 w 2386800"/>
              <a:gd name="textAreaRight" fmla="*/ 2387880 w 2386800"/>
              <a:gd name="textAreaTop" fmla="*/ 0 h 3825360"/>
              <a:gd name="textAreaBottom" fmla="*/ 3826440 h 3825360"/>
            </a:gdLst>
            <a:ahLst/>
            <a:rect l="textAreaLeft" t="textAreaTop" r="textAreaRight" b="textAreaBottom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a41c34"/>
          </a:solidFill>
          <a:ln w="5">
            <a:solidFill>
              <a:srgbClr val="a41c34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122040" rIns="122040" tIns="60840" bIns="6084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70" strike="noStrike" u="none">
              <a:solidFill>
                <a:srgbClr val="a41c34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112" name="Freeform 6"/>
          <p:cNvSpPr/>
          <p:nvPr/>
        </p:nvSpPr>
        <p:spPr>
          <a:xfrm>
            <a:off x="2296440" y="2937600"/>
            <a:ext cx="181800" cy="2257920"/>
          </a:xfrm>
          <a:custGeom>
            <a:avLst/>
            <a:gdLst>
              <a:gd name="textAreaLeft" fmla="*/ 0 w 181800"/>
              <a:gd name="textAreaRight" fmla="*/ 182880 w 181800"/>
              <a:gd name="textAreaTop" fmla="*/ 0 h 2257920"/>
              <a:gd name="textAreaBottom" fmla="*/ 2259000 h 2257920"/>
            </a:gdLst>
            <a:ahLst/>
            <a:rect l="textAreaLeft" t="textAreaTop" r="textAreaRight" b="textAreaBottom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a51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122040" rIns="122040" tIns="60840" bIns="6084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70" strike="noStrike" u="none">
              <a:solidFill>
                <a:srgbClr val="000000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113" name="图片 3" descr=""/>
          <p:cNvPicPr/>
          <p:nvPr/>
        </p:nvPicPr>
        <p:blipFill>
          <a:blip r:embed="rId1"/>
          <a:stretch/>
        </p:blipFill>
        <p:spPr>
          <a:xfrm>
            <a:off x="8330760" y="0"/>
            <a:ext cx="3859920" cy="12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文本框 15"/>
          <p:cNvSpPr/>
          <p:nvPr/>
        </p:nvSpPr>
        <p:spPr>
          <a:xfrm>
            <a:off x="3390120" y="5244480"/>
            <a:ext cx="531756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zh-CN" sz="1870" strike="noStrike" u="none">
                <a:solidFill>
                  <a:srgbClr val="c00000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70" strike="noStrike" u="none">
                <a:solidFill>
                  <a:srgbClr val="c00000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p14:dur="25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矩形 3"/>
          <p:cNvSpPr/>
          <p:nvPr/>
        </p:nvSpPr>
        <p:spPr>
          <a:xfrm>
            <a:off x="2590920" y="0"/>
            <a:ext cx="722880" cy="68569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>
                  <a:lumMod val="65000"/>
                  <a:lumOff val="35000"/>
                </a:schemeClr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116" name="Freeform 9"/>
          <p:cNvSpPr/>
          <p:nvPr/>
        </p:nvSpPr>
        <p:spPr>
          <a:xfrm rot="5400000">
            <a:off x="1521360" y="3064320"/>
            <a:ext cx="4316040" cy="727920"/>
          </a:xfrm>
          <a:custGeom>
            <a:avLst/>
            <a:gdLst>
              <a:gd name="textAreaLeft" fmla="*/ 0 w 4316040"/>
              <a:gd name="textAreaRight" fmla="*/ 4317120 w 4316040"/>
              <a:gd name="textAreaTop" fmla="*/ 0 h 727920"/>
              <a:gd name="textAreaBottom" fmla="*/ 729000 h 727920"/>
            </a:gdLst>
            <a:ahLst/>
            <a:rect l="textAreaLeft" t="textAreaTop" r="textAreaRight" b="textAreaBottom"/>
            <a:pathLst>
              <a:path w="2334" h="392">
                <a:moveTo>
                  <a:pt x="2334" y="392"/>
                </a:moveTo>
                <a:cubicBezTo>
                  <a:pt x="0" y="392"/>
                  <a:pt x="0" y="392"/>
                  <a:pt x="0" y="392"/>
                </a:cubicBezTo>
                <a:cubicBezTo>
                  <a:pt x="134" y="100"/>
                  <a:pt x="134" y="100"/>
                  <a:pt x="134" y="100"/>
                </a:cubicBezTo>
                <a:cubicBezTo>
                  <a:pt x="163" y="39"/>
                  <a:pt x="224" y="0"/>
                  <a:pt x="291" y="0"/>
                </a:cubicBezTo>
                <a:cubicBezTo>
                  <a:pt x="2042" y="0"/>
                  <a:pt x="2042" y="0"/>
                  <a:pt x="2042" y="0"/>
                </a:cubicBezTo>
                <a:cubicBezTo>
                  <a:pt x="2109" y="0"/>
                  <a:pt x="2171" y="39"/>
                  <a:pt x="2199" y="100"/>
                </a:cubicBezTo>
                <a:lnTo>
                  <a:pt x="2334" y="392"/>
                </a:lnTo>
                <a:close/>
              </a:path>
            </a:pathLst>
          </a:custGeom>
          <a:solidFill>
            <a:srgbClr val="972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>
                  <a:lumMod val="65000"/>
                  <a:lumOff val="35000"/>
                </a:schemeClr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117" name="矩形 2"/>
          <p:cNvSpPr/>
          <p:nvPr/>
        </p:nvSpPr>
        <p:spPr>
          <a:xfrm>
            <a:off x="0" y="0"/>
            <a:ext cx="2589840" cy="68569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>
                  <a:lumMod val="65000"/>
                  <a:lumOff val="35000"/>
                </a:schemeClr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118" name="文本框 18"/>
          <p:cNvSpPr/>
          <p:nvPr/>
        </p:nvSpPr>
        <p:spPr>
          <a:xfrm>
            <a:off x="6116760" y="1716840"/>
            <a:ext cx="1068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1 /</a:t>
            </a:r>
            <a:endParaRPr b="0" lang="en-U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文本框 19"/>
          <p:cNvSpPr/>
          <p:nvPr/>
        </p:nvSpPr>
        <p:spPr>
          <a:xfrm>
            <a:off x="7186680" y="1870920"/>
            <a:ext cx="2733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8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文本框 21"/>
          <p:cNvSpPr/>
          <p:nvPr/>
        </p:nvSpPr>
        <p:spPr>
          <a:xfrm>
            <a:off x="6116760" y="3047040"/>
            <a:ext cx="1068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2 /</a:t>
            </a:r>
            <a:endParaRPr b="0" lang="en-U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文本框 22"/>
          <p:cNvSpPr/>
          <p:nvPr/>
        </p:nvSpPr>
        <p:spPr>
          <a:xfrm>
            <a:off x="7186680" y="3200760"/>
            <a:ext cx="2733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8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神经网络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文本框 37"/>
          <p:cNvSpPr/>
          <p:nvPr/>
        </p:nvSpPr>
        <p:spPr>
          <a:xfrm>
            <a:off x="6116760" y="4381920"/>
            <a:ext cx="1068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3 / </a:t>
            </a:r>
            <a:endParaRPr b="0" lang="en-U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文本框 38"/>
          <p:cNvSpPr/>
          <p:nvPr/>
        </p:nvSpPr>
        <p:spPr>
          <a:xfrm>
            <a:off x="7194240" y="4535640"/>
            <a:ext cx="2733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8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参考资料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24" name="组合 43"/>
          <p:cNvGrpSpPr/>
          <p:nvPr/>
        </p:nvGrpSpPr>
        <p:grpSpPr>
          <a:xfrm>
            <a:off x="696240" y="2525760"/>
            <a:ext cx="1911600" cy="1492920"/>
            <a:chOff x="696240" y="2525760"/>
            <a:chExt cx="1911600" cy="1492920"/>
          </a:xfrm>
        </p:grpSpPr>
        <p:sp>
          <p:nvSpPr>
            <p:cNvPr id="125" name="PA_文本框 2"/>
            <p:cNvSpPr/>
            <p:nvPr/>
          </p:nvSpPr>
          <p:spPr>
            <a:xfrm>
              <a:off x="696240" y="2525760"/>
              <a:ext cx="1911600" cy="11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1" lang="zh-CN" sz="6000" strike="noStrike" u="none">
                  <a:solidFill>
                    <a:schemeClr val="lt1"/>
                  </a:solidFill>
                  <a:uFillTx/>
                  <a:latin typeface="微软雅黑"/>
                  <a:ea typeface="微软雅黑"/>
                </a:rPr>
                <a:t>目录</a:t>
              </a:r>
              <a:endParaRPr b="0" lang="en-US" sz="6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26" name="PA_文本框 2"/>
            <p:cNvSpPr/>
            <p:nvPr/>
          </p:nvSpPr>
          <p:spPr>
            <a:xfrm>
              <a:off x="696240" y="3563280"/>
              <a:ext cx="19116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chemeClr val="lt1"/>
                  </a:solidFill>
                  <a:uFillTx/>
                  <a:latin typeface="微软雅黑"/>
                  <a:ea typeface="微软雅黑"/>
                </a:rPr>
                <a:t>CONTENTS</a:t>
              </a:r>
              <a:endParaRPr b="0" lang="en-US" sz="2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pic>
        <p:nvPicPr>
          <p:cNvPr id="127" name="图片 4" descr=""/>
          <p:cNvPicPr/>
          <p:nvPr/>
        </p:nvPicPr>
        <p:blipFill>
          <a:blip r:embed="rId1"/>
          <a:stretch/>
        </p:blipFill>
        <p:spPr>
          <a:xfrm>
            <a:off x="10315080" y="73800"/>
            <a:ext cx="1741320" cy="56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129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130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二、神经网络 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矩形 35"/>
          <p:cNvSpPr/>
          <p:nvPr/>
        </p:nvSpPr>
        <p:spPr>
          <a:xfrm>
            <a:off x="1421640" y="1901520"/>
            <a:ext cx="4695840" cy="15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感知机（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Perceptron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）由美国学者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Frank Rosenblatt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于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1957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年提出，作为神经网络最早期的 算法之一，感知机奠定了深度学习发展的基础，至今仍具有重要的学习和研究价值。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sldNum" idx="43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CE08F9-F274-49C6-B676-A3C35DC7519E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3" name="矩形 11"/>
          <p:cNvSpPr/>
          <p:nvPr/>
        </p:nvSpPr>
        <p:spPr>
          <a:xfrm>
            <a:off x="974520" y="461520"/>
            <a:ext cx="10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34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135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136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137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138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0" name="图片 5" descr=""/>
          <p:cNvPicPr/>
          <p:nvPr/>
        </p:nvPicPr>
        <p:blipFill>
          <a:blip r:embed="rId2"/>
          <a:stretch/>
        </p:blipFill>
        <p:spPr>
          <a:xfrm>
            <a:off x="7810200" y="2601000"/>
            <a:ext cx="3150000" cy="23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矩形 24"/>
          <p:cNvSpPr/>
          <p:nvPr/>
        </p:nvSpPr>
        <p:spPr>
          <a:xfrm>
            <a:off x="1399320" y="4158000"/>
            <a:ext cx="4695840" cy="15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输入信号被送往神经元时，会被分别乘以固定的 权重，神经元会计算传送过来的信号的总和，当这个总和超过了某个阈值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θ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，神经元输出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1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，这也 被称为“神经元被激活”。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14" dur="2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143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144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二、神经网络 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sldNum" idx="44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CD519B-B3F7-4F6A-A163-663103D1DA96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6" name="矩形 11"/>
          <p:cNvSpPr/>
          <p:nvPr/>
        </p:nvSpPr>
        <p:spPr>
          <a:xfrm>
            <a:off x="974520" y="461520"/>
            <a:ext cx="10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47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148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149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150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151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3" name="图片 5" descr=""/>
          <p:cNvPicPr/>
          <p:nvPr/>
        </p:nvPicPr>
        <p:blipFill>
          <a:blip r:embed="rId2"/>
          <a:stretch/>
        </p:blipFill>
        <p:spPr>
          <a:xfrm>
            <a:off x="1757520" y="2342160"/>
            <a:ext cx="3150000" cy="231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图片 3" descr=""/>
          <p:cNvPicPr/>
          <p:nvPr/>
        </p:nvPicPr>
        <p:blipFill>
          <a:blip r:embed="rId3"/>
          <a:stretch/>
        </p:blipFill>
        <p:spPr>
          <a:xfrm>
            <a:off x="6663240" y="2781000"/>
            <a:ext cx="4441680" cy="153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156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157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二、神经网络 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sldNum" idx="45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1B20DC-745D-44AB-B64F-9E134D35A034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9" name="矩形 11"/>
          <p:cNvSpPr/>
          <p:nvPr/>
        </p:nvSpPr>
        <p:spPr>
          <a:xfrm>
            <a:off x="974520" y="461520"/>
            <a:ext cx="10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0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161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162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163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164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矩形 16"/>
          <p:cNvSpPr/>
          <p:nvPr/>
        </p:nvSpPr>
        <p:spPr>
          <a:xfrm>
            <a:off x="5334480" y="3680640"/>
            <a:ext cx="538992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我们需要做的就是确定能满足真值表的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w1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、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w2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、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θ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的值。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7" name="图片 19" descr=""/>
          <p:cNvPicPr/>
          <p:nvPr/>
        </p:nvPicPr>
        <p:blipFill>
          <a:blip r:embed="rId2"/>
          <a:stretch/>
        </p:blipFill>
        <p:spPr>
          <a:xfrm>
            <a:off x="4748400" y="685800"/>
            <a:ext cx="3150000" cy="231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图片 26" descr=""/>
          <p:cNvPicPr/>
          <p:nvPr/>
        </p:nvPicPr>
        <p:blipFill>
          <a:blip r:embed="rId3"/>
          <a:stretch/>
        </p:blipFill>
        <p:spPr>
          <a:xfrm>
            <a:off x="7899480" y="1111680"/>
            <a:ext cx="3945600" cy="136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图片 6" descr=""/>
          <p:cNvPicPr/>
          <p:nvPr/>
        </p:nvPicPr>
        <p:blipFill>
          <a:blip r:embed="rId4"/>
          <a:stretch/>
        </p:blipFill>
        <p:spPr>
          <a:xfrm>
            <a:off x="1066680" y="2283480"/>
            <a:ext cx="2971080" cy="273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171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172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二、神经网络 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矩形 35"/>
          <p:cNvSpPr/>
          <p:nvPr/>
        </p:nvSpPr>
        <p:spPr>
          <a:xfrm>
            <a:off x="1522440" y="2444760"/>
            <a:ext cx="4695840" cy="22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实际上，参数的选择方法有无数多 种。比如，当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(w1,w2,θ) = (0.5,0.5,0.7)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时，可以满足条件。此外，当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(w1,w2,θ) = (0.5,0.5,0.8)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或者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(1.0,1.0,1.0)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时，同样也满足与门的条件。设定这样的参数后，仅当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x1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和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x2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同时为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1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时，信号的加权总和才会超过给定的阈值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θ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sldNum" idx="46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7AF18F-3D07-440B-A9EF-8AE4F842A671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5" name="矩形 11"/>
          <p:cNvSpPr/>
          <p:nvPr/>
        </p:nvSpPr>
        <p:spPr>
          <a:xfrm>
            <a:off x="974520" y="461520"/>
            <a:ext cx="10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76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177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178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179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180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2" name="图片 26" descr=""/>
          <p:cNvPicPr/>
          <p:nvPr/>
        </p:nvPicPr>
        <p:blipFill>
          <a:blip r:embed="rId2"/>
          <a:stretch/>
        </p:blipFill>
        <p:spPr>
          <a:xfrm>
            <a:off x="8201160" y="923040"/>
            <a:ext cx="2971080" cy="273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图片 27" descr=""/>
          <p:cNvPicPr/>
          <p:nvPr/>
        </p:nvPicPr>
        <p:blipFill>
          <a:blip r:embed="rId3"/>
          <a:stretch/>
        </p:blipFill>
        <p:spPr>
          <a:xfrm>
            <a:off x="7335000" y="4234680"/>
            <a:ext cx="3945600" cy="136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185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186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二、神经网络 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47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DACC13-900B-48E5-9F32-8AD74C6E299B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8" name="矩形 11"/>
          <p:cNvSpPr/>
          <p:nvPr/>
        </p:nvSpPr>
        <p:spPr>
          <a:xfrm>
            <a:off x="974520" y="461520"/>
            <a:ext cx="10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89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190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191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192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193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95" name="组合 16"/>
          <p:cNvGrpSpPr/>
          <p:nvPr/>
        </p:nvGrpSpPr>
        <p:grpSpPr>
          <a:xfrm>
            <a:off x="4629600" y="2244600"/>
            <a:ext cx="1782720" cy="400680"/>
            <a:chOff x="4629600" y="2244600"/>
            <a:chExt cx="1782720" cy="400680"/>
          </a:xfrm>
        </p:grpSpPr>
        <p:cxnSp>
          <p:nvCxnSpPr>
            <p:cNvPr id="196" name="直接箭头连接符 24"/>
            <p:cNvCxnSpPr/>
            <p:nvPr/>
          </p:nvCxnSpPr>
          <p:spPr>
            <a:xfrm>
              <a:off x="4629600" y="2644560"/>
              <a:ext cx="1783080" cy="1080"/>
            </a:xfrm>
            <a:prstGeom prst="straightConnector1">
              <a:avLst/>
            </a:prstGeom>
            <a:ln w="38100">
              <a:solidFill>
                <a:srgbClr val="4472c4"/>
              </a:solidFill>
              <a:round/>
              <a:tailEnd len="med" type="arrow" w="med"/>
            </a:ln>
          </p:spPr>
        </p:cxnSp>
        <p:sp>
          <p:nvSpPr>
            <p:cNvPr id="197" name="矩形 25"/>
            <p:cNvSpPr/>
            <p:nvPr/>
          </p:nvSpPr>
          <p:spPr>
            <a:xfrm>
              <a:off x="4629600" y="2244600"/>
              <a:ext cx="15814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trike="noStrike" u="none">
                  <a:solidFill>
                    <a:schemeClr val="dk1"/>
                  </a:solidFill>
                  <a:uFillTx/>
                  <a:latin typeface="Times New Roman"/>
                  <a:ea typeface="宋体"/>
                </a:rPr>
                <a:t>b=−</a:t>
              </a:r>
              <a:r>
                <a:rPr b="0" lang="el-GR" sz="2000" strike="noStrike" u="none">
                  <a:solidFill>
                    <a:schemeClr val="dk1"/>
                  </a:solidFill>
                  <a:uFillTx/>
                  <a:latin typeface="Times New Roman"/>
                  <a:ea typeface="宋体"/>
                </a:rPr>
                <a:t>θ</a:t>
              </a:r>
              <a:endParaRPr b="0" lang="en-US" sz="2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pic>
        <p:nvPicPr>
          <p:cNvPr id="198" name="图片 27" descr=""/>
          <p:cNvPicPr/>
          <p:nvPr/>
        </p:nvPicPr>
        <p:blipFill>
          <a:blip r:embed="rId2"/>
          <a:stretch/>
        </p:blipFill>
        <p:spPr>
          <a:xfrm>
            <a:off x="483480" y="1931400"/>
            <a:ext cx="3945600" cy="136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图片 8" descr=""/>
          <p:cNvPicPr/>
          <p:nvPr/>
        </p:nvPicPr>
        <p:blipFill>
          <a:blip r:embed="rId3"/>
          <a:stretch/>
        </p:blipFill>
        <p:spPr>
          <a:xfrm>
            <a:off x="6683760" y="2050920"/>
            <a:ext cx="3596040" cy="11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图片 10" descr=""/>
          <p:cNvPicPr/>
          <p:nvPr/>
        </p:nvPicPr>
        <p:blipFill>
          <a:blip r:embed="rId4"/>
          <a:stretch/>
        </p:blipFill>
        <p:spPr>
          <a:xfrm>
            <a:off x="4286520" y="3178800"/>
            <a:ext cx="3058560" cy="304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" dur="indefinite" restart="never" nodeType="tmRoot">
          <p:childTnLst>
            <p:seq>
              <p:cTn id="25" dur="indefinite" nodeType="mainSeq"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202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203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二、神经网络 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sldNum" idx="48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57BAEA-B078-46B2-8D24-402A059E480E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5" name="矩形 11"/>
          <p:cNvSpPr/>
          <p:nvPr/>
        </p:nvSpPr>
        <p:spPr>
          <a:xfrm>
            <a:off x="974520" y="461520"/>
            <a:ext cx="10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06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207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208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209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210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矩形 16"/>
          <p:cNvSpPr/>
          <p:nvPr/>
        </p:nvSpPr>
        <p:spPr>
          <a:xfrm>
            <a:off x="5334480" y="3680640"/>
            <a:ext cx="538992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我们需要做的就是确定能满足真值表的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w1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、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w2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、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b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的值。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3" name="图片 19" descr=""/>
          <p:cNvPicPr/>
          <p:nvPr/>
        </p:nvPicPr>
        <p:blipFill>
          <a:blip r:embed="rId2"/>
          <a:stretch/>
        </p:blipFill>
        <p:spPr>
          <a:xfrm>
            <a:off x="4727520" y="655560"/>
            <a:ext cx="3150000" cy="231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图片 26" descr=""/>
          <p:cNvPicPr/>
          <p:nvPr/>
        </p:nvPicPr>
        <p:blipFill>
          <a:blip r:embed="rId3"/>
          <a:stretch/>
        </p:blipFill>
        <p:spPr>
          <a:xfrm>
            <a:off x="7953480" y="1278000"/>
            <a:ext cx="3596040" cy="112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图片 4" descr=""/>
          <p:cNvPicPr/>
          <p:nvPr/>
        </p:nvPicPr>
        <p:blipFill>
          <a:blip r:embed="rId4"/>
          <a:stretch/>
        </p:blipFill>
        <p:spPr>
          <a:xfrm>
            <a:off x="786240" y="2087640"/>
            <a:ext cx="3138480" cy="294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217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218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二、神经网络 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sldNum" idx="49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F703E4-6686-4AC2-9A52-8A43CF62DE2F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0" name="矩形 11"/>
          <p:cNvSpPr/>
          <p:nvPr/>
        </p:nvSpPr>
        <p:spPr>
          <a:xfrm>
            <a:off x="974520" y="461520"/>
            <a:ext cx="10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21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222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223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224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225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矩形 18"/>
          <p:cNvSpPr/>
          <p:nvPr/>
        </p:nvSpPr>
        <p:spPr>
          <a:xfrm>
            <a:off x="786240" y="1899720"/>
            <a:ext cx="51728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实际上，用前面介绍的感知机是无法实现异或门的。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矩形 27"/>
          <p:cNvSpPr/>
          <p:nvPr/>
        </p:nvSpPr>
        <p:spPr>
          <a:xfrm>
            <a:off x="959040" y="4808160"/>
            <a:ext cx="5172840" cy="11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思考感知机如何实现与门的，其实是感知机生成一条直线来划分空间，以我们之前实现的与门为例，生成的直线为−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0.8+0.5x1+0.5x2=0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9" name="图片 29" descr=""/>
          <p:cNvPicPr/>
          <p:nvPr/>
        </p:nvPicPr>
        <p:blipFill>
          <a:blip r:embed="rId2"/>
          <a:stretch/>
        </p:blipFill>
        <p:spPr>
          <a:xfrm>
            <a:off x="2007720" y="2478960"/>
            <a:ext cx="2318760" cy="21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图片 5" descr=""/>
          <p:cNvPicPr/>
          <p:nvPr/>
        </p:nvPicPr>
        <p:blipFill>
          <a:blip r:embed="rId3"/>
          <a:srcRect l="19850" t="1134" r="0" b="0"/>
          <a:stretch/>
        </p:blipFill>
        <p:spPr>
          <a:xfrm>
            <a:off x="6465960" y="1649880"/>
            <a:ext cx="5639040" cy="463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" dur="indefinite" restart="never" nodeType="tmRoot">
          <p:childTnLst>
            <p:seq>
              <p:cTn id="31" dur="indefinite" nodeType="mainSeq">
                <p:childTnLst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232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233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二、神经网络 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sldNum" idx="50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830B95-AE7A-43F4-86BD-C14C41FA3CD8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5" name="矩形 11"/>
          <p:cNvSpPr/>
          <p:nvPr/>
        </p:nvSpPr>
        <p:spPr>
          <a:xfrm>
            <a:off x="974520" y="461520"/>
            <a:ext cx="10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36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237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238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239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240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矩形 18"/>
          <p:cNvSpPr/>
          <p:nvPr/>
        </p:nvSpPr>
        <p:spPr>
          <a:xfrm>
            <a:off x="786240" y="1899720"/>
            <a:ext cx="51728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想要用一条直线将图中的数据分开，是做不到的。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3" name="图片 25" descr=""/>
          <p:cNvPicPr/>
          <p:nvPr/>
        </p:nvPicPr>
        <p:blipFill>
          <a:blip r:embed="rId2"/>
          <a:stretch/>
        </p:blipFill>
        <p:spPr>
          <a:xfrm>
            <a:off x="1553760" y="2684160"/>
            <a:ext cx="3025800" cy="283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图片 6" descr=""/>
          <p:cNvPicPr/>
          <p:nvPr/>
        </p:nvPicPr>
        <p:blipFill>
          <a:blip r:embed="rId3"/>
          <a:stretch/>
        </p:blipFill>
        <p:spPr>
          <a:xfrm>
            <a:off x="5740920" y="1569240"/>
            <a:ext cx="6110280" cy="414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" dur="indefinite" restart="never" nodeType="tmRoot">
          <p:childTnLst>
            <p:seq>
              <p:cTn id="45" dur="indefinite" nodeType="mainSeq">
                <p:childTnLst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246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247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二、神经网络 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PlaceHolder 1"/>
          <p:cNvSpPr>
            <a:spLocks noGrp="1"/>
          </p:cNvSpPr>
          <p:nvPr>
            <p:ph type="sldNum" idx="51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78BF64-80E2-435C-BE01-C1C095B8EAA3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9" name="矩形 11"/>
          <p:cNvSpPr/>
          <p:nvPr/>
        </p:nvSpPr>
        <p:spPr>
          <a:xfrm>
            <a:off x="974520" y="461520"/>
            <a:ext cx="1094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感知机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50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251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252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253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254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6" name="图片 3" descr=""/>
          <p:cNvPicPr/>
          <p:nvPr/>
        </p:nvPicPr>
        <p:blipFill>
          <a:blip r:embed="rId2"/>
          <a:stretch/>
        </p:blipFill>
        <p:spPr>
          <a:xfrm>
            <a:off x="4544640" y="2178000"/>
            <a:ext cx="2498400" cy="108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矩形 19"/>
          <p:cNvSpPr/>
          <p:nvPr/>
        </p:nvSpPr>
        <p:spPr>
          <a:xfrm>
            <a:off x="3303000" y="4133160"/>
            <a:ext cx="5248440" cy="11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感知机只能表示线性可分的空间，不过， 就如同我们能通过与门、与非门、或门构建异或门，我们也能够通过“多层叠加”感知机来处理非 线性可分的问题。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" dur="indefinite" restart="never" nodeType="tmRoot">
          <p:childTnLst>
            <p:seq>
              <p:cTn id="52" dur="indefinite" nodeType="mainSeq">
                <p:childTnLst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259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260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</a:t>
            </a: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二、神经网络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sldNum" idx="52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7F0DF3-4722-4726-B985-C7C0B31E4E33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2" name="矩形 11"/>
          <p:cNvSpPr/>
          <p:nvPr/>
        </p:nvSpPr>
        <p:spPr>
          <a:xfrm>
            <a:off x="975960" y="461520"/>
            <a:ext cx="139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神经网络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63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264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265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266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267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9" name="图片 4" descr=""/>
          <p:cNvPicPr/>
          <p:nvPr/>
        </p:nvPicPr>
        <p:blipFill>
          <a:blip r:embed="rId2"/>
          <a:stretch/>
        </p:blipFill>
        <p:spPr>
          <a:xfrm>
            <a:off x="9334080" y="3548160"/>
            <a:ext cx="2567160" cy="252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矩形 15"/>
          <p:cNvSpPr/>
          <p:nvPr/>
        </p:nvSpPr>
        <p:spPr>
          <a:xfrm>
            <a:off x="3324600" y="2289960"/>
            <a:ext cx="5172840" cy="15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在前面的感知机模型中，参数的确定并不是由计算机自动完成的，而是由我们人为地根据真值 表等“训练数据”手动计算得出。为了让计算机能够自动学习和调整参数，神经网络的概念应运而生。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272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273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</a:t>
            </a: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二、神经网络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sldNum" idx="53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6AD0BD-2AC2-4E00-B24B-D4CEDBE83E28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5" name="矩形 11"/>
          <p:cNvSpPr/>
          <p:nvPr/>
        </p:nvSpPr>
        <p:spPr>
          <a:xfrm>
            <a:off x="975960" y="461520"/>
            <a:ext cx="139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神经网络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76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277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278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279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280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2" name="图片 16" descr=""/>
          <p:cNvPicPr/>
          <p:nvPr/>
        </p:nvPicPr>
        <p:blipFill>
          <a:blip r:embed="rId2"/>
          <a:stretch/>
        </p:blipFill>
        <p:spPr>
          <a:xfrm>
            <a:off x="2823480" y="1435680"/>
            <a:ext cx="3150000" cy="2317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83" name="组合 19"/>
          <p:cNvGrpSpPr/>
          <p:nvPr/>
        </p:nvGrpSpPr>
        <p:grpSpPr>
          <a:xfrm>
            <a:off x="5083200" y="4320360"/>
            <a:ext cx="1783080" cy="706680"/>
            <a:chOff x="5083200" y="4320360"/>
            <a:chExt cx="1783080" cy="706680"/>
          </a:xfrm>
        </p:grpSpPr>
        <p:cxnSp>
          <p:nvCxnSpPr>
            <p:cNvPr id="284" name="直接箭头连接符 24"/>
            <p:cNvCxnSpPr/>
            <p:nvPr/>
          </p:nvCxnSpPr>
          <p:spPr>
            <a:xfrm>
              <a:off x="5083200" y="4719960"/>
              <a:ext cx="1783440" cy="1080"/>
            </a:xfrm>
            <a:prstGeom prst="straightConnector1">
              <a:avLst/>
            </a:prstGeom>
            <a:ln w="38100">
              <a:solidFill>
                <a:srgbClr val="4472c4"/>
              </a:solidFill>
              <a:round/>
              <a:tailEnd len="med" type="arrow" w="med"/>
            </a:ln>
          </p:spPr>
        </p:cxnSp>
        <p:sp>
          <p:nvSpPr>
            <p:cNvPr id="285" name="矩形 25"/>
            <p:cNvSpPr/>
            <p:nvPr/>
          </p:nvSpPr>
          <p:spPr>
            <a:xfrm>
              <a:off x="5083560" y="4320360"/>
              <a:ext cx="1581480" cy="70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endParaRPr b="0" lang="en-US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en-US" sz="2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86" name="矩形 26"/>
          <p:cNvSpPr/>
          <p:nvPr/>
        </p:nvSpPr>
        <p:spPr>
          <a:xfrm>
            <a:off x="7315200" y="2018160"/>
            <a:ext cx="4106160" cy="15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h(x)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函数会将输入信号的总和转换为输出信号，被称为激活函数（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activation function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），我们 之前使用的激活函数是“阶跃函数”。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7" name="图片 27" descr=""/>
          <p:cNvPicPr/>
          <p:nvPr/>
        </p:nvPicPr>
        <p:blipFill>
          <a:blip r:embed="rId3"/>
          <a:stretch/>
        </p:blipFill>
        <p:spPr>
          <a:xfrm>
            <a:off x="2773440" y="1448280"/>
            <a:ext cx="3382920" cy="254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图片 6" descr=""/>
          <p:cNvPicPr/>
          <p:nvPr/>
        </p:nvPicPr>
        <p:blipFill>
          <a:blip r:embed="rId4"/>
          <a:stretch/>
        </p:blipFill>
        <p:spPr>
          <a:xfrm>
            <a:off x="7418880" y="3847320"/>
            <a:ext cx="4136760" cy="182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9" name="图片 28" descr=""/>
          <p:cNvPicPr/>
          <p:nvPr/>
        </p:nvPicPr>
        <p:blipFill>
          <a:blip r:embed="rId5"/>
          <a:stretch/>
        </p:blipFill>
        <p:spPr>
          <a:xfrm>
            <a:off x="1084320" y="4197960"/>
            <a:ext cx="3596040" cy="112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6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291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292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</a:t>
            </a: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二、神经网络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PlaceHolder 1"/>
          <p:cNvSpPr>
            <a:spLocks noGrp="1"/>
          </p:cNvSpPr>
          <p:nvPr>
            <p:ph type="sldNum" idx="54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2E244D-A1D3-4456-A149-2B6ADB5C42CB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4" name="矩形 11"/>
          <p:cNvSpPr/>
          <p:nvPr/>
        </p:nvSpPr>
        <p:spPr>
          <a:xfrm>
            <a:off x="975960" y="461520"/>
            <a:ext cx="139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神经网络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5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296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297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298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299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1" name="图片 8" descr=""/>
          <p:cNvPicPr/>
          <p:nvPr/>
        </p:nvPicPr>
        <p:blipFill>
          <a:blip r:embed="rId2"/>
          <a:stretch/>
        </p:blipFill>
        <p:spPr>
          <a:xfrm>
            <a:off x="889200" y="3482640"/>
            <a:ext cx="3719520" cy="281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图片 10" descr=""/>
          <p:cNvPicPr/>
          <p:nvPr/>
        </p:nvPicPr>
        <p:blipFill>
          <a:blip r:embed="rId3"/>
          <a:stretch/>
        </p:blipFill>
        <p:spPr>
          <a:xfrm>
            <a:off x="8353440" y="3482640"/>
            <a:ext cx="3643920" cy="279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矩形 27"/>
          <p:cNvSpPr/>
          <p:nvPr/>
        </p:nvSpPr>
        <p:spPr>
          <a:xfrm>
            <a:off x="2333880" y="3022560"/>
            <a:ext cx="9385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Sigmod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矩形 28"/>
          <p:cNvSpPr/>
          <p:nvPr/>
        </p:nvSpPr>
        <p:spPr>
          <a:xfrm>
            <a:off x="9857880" y="3011400"/>
            <a:ext cx="8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RELU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5" name="图片 31" descr=""/>
          <p:cNvPicPr/>
          <p:nvPr/>
        </p:nvPicPr>
        <p:blipFill>
          <a:blip r:embed="rId4"/>
          <a:stretch/>
        </p:blipFill>
        <p:spPr>
          <a:xfrm>
            <a:off x="4524120" y="1195200"/>
            <a:ext cx="3580560" cy="209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307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308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</a:t>
            </a: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二、神经网络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PlaceHolder 1"/>
          <p:cNvSpPr>
            <a:spLocks noGrp="1"/>
          </p:cNvSpPr>
          <p:nvPr>
            <p:ph type="sldNum" idx="55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446D0F-36E5-49DC-A9DE-7A18A4FDCBED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0" name="矩形 11"/>
          <p:cNvSpPr/>
          <p:nvPr/>
        </p:nvSpPr>
        <p:spPr>
          <a:xfrm>
            <a:off x="975960" y="461520"/>
            <a:ext cx="139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神经网络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1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312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313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314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315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17" name="图片 3" descr=""/>
          <p:cNvPicPr/>
          <p:nvPr/>
        </p:nvPicPr>
        <p:blipFill>
          <a:blip r:embed="rId2"/>
          <a:stretch/>
        </p:blipFill>
        <p:spPr>
          <a:xfrm>
            <a:off x="3714840" y="3671640"/>
            <a:ext cx="3992040" cy="113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文本框 24"/>
          <p:cNvSpPr/>
          <p:nvPr/>
        </p:nvSpPr>
        <p:spPr>
          <a:xfrm>
            <a:off x="2847960" y="2347920"/>
            <a:ext cx="62312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对于输出层，我们有时不是直接把输出层的值当作最终结果，比如如果需要做个多分类问题， 可能需要用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softmax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函数对输出层处理。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320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321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</a:t>
            </a: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二、神经网络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sldNum" idx="56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4E81F4-7CC3-496B-91CE-B9ACA212C076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3" name="矩形 11"/>
          <p:cNvSpPr/>
          <p:nvPr/>
        </p:nvSpPr>
        <p:spPr>
          <a:xfrm>
            <a:off x="975960" y="461520"/>
            <a:ext cx="139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神经网络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24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325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326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327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328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文本框 24"/>
          <p:cNvSpPr/>
          <p:nvPr/>
        </p:nvSpPr>
        <p:spPr>
          <a:xfrm>
            <a:off x="646560" y="2308320"/>
            <a:ext cx="343476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神经网络“从数据中学习”，由数据自动决定权重参数的值。为了达成这个目的，我们先要决 定损失函数（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loss function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），之后，神经网络就以这个指标为基准，寻找最优权重参数。常用的损 失函数有均方误差（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mean squared error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）和交叉熵误差（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cross entropy error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）。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1" name="图片 4" descr=""/>
          <p:cNvPicPr/>
          <p:nvPr/>
        </p:nvPicPr>
        <p:blipFill>
          <a:blip r:embed="rId2"/>
          <a:stretch/>
        </p:blipFill>
        <p:spPr>
          <a:xfrm>
            <a:off x="6574680" y="2030760"/>
            <a:ext cx="4060800" cy="23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文本框 18"/>
          <p:cNvSpPr/>
          <p:nvPr/>
        </p:nvSpPr>
        <p:spPr>
          <a:xfrm>
            <a:off x="5695560" y="5180400"/>
            <a:ext cx="623124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这里，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yi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是表示神经网络的输出，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ˆ yi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表示监督数据，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i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表示数据的维数。交叉熵误差主要用于 多分类问题，实际上他只计算对应正确解标签的输出，假设正确解标签的索引是“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1”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，与之对应的 神经网络的输出是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0.7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，则交叉熵误差是−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log0.7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0" dur="indefinite" restart="never" nodeType="tmRoot">
          <p:childTnLst>
            <p:seq>
              <p:cTn id="91" dur="indefinite" nodeType="mainSeq">
                <p:childTnLst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334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335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</a:t>
            </a: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二、神经网络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sldNum" idx="57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C49B87-665E-439C-9A4F-30E0ADE9048B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7" name="矩形 11"/>
          <p:cNvSpPr/>
          <p:nvPr/>
        </p:nvSpPr>
        <p:spPr>
          <a:xfrm>
            <a:off x="975960" y="461520"/>
            <a:ext cx="139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神经网络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38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339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340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341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342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文本框 24"/>
          <p:cNvSpPr/>
          <p:nvPr/>
        </p:nvSpPr>
        <p:spPr>
          <a:xfrm>
            <a:off x="4248000" y="2505240"/>
            <a:ext cx="352980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如果遇到大数据，数据量会有几百万、几千万之多，这种情况下以全部数据为对象计算损失函数是不现实的。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文本框 16"/>
          <p:cNvSpPr/>
          <p:nvPr/>
        </p:nvSpPr>
        <p:spPr>
          <a:xfrm>
            <a:off x="3067200" y="4214880"/>
            <a:ext cx="62312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因此，我们从全部数据中选出一部分，作为全部数据的“近似”。从训练数据中选出一批数 据（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mini-batch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），然后对每个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mini-batch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进行学习，这种学习方式称为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mini-batch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学习。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3" dur="10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10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347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348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一、感知机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</a:t>
            </a: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二、神经网络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sldNum" idx="58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5C89ED-96B3-4BEB-A9B9-935CE30818CE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0" name="矩形 11"/>
          <p:cNvSpPr/>
          <p:nvPr/>
        </p:nvSpPr>
        <p:spPr>
          <a:xfrm>
            <a:off x="975960" y="461520"/>
            <a:ext cx="139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神经网络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51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352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353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354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355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57" name="图片 5" descr=""/>
          <p:cNvPicPr/>
          <p:nvPr/>
        </p:nvPicPr>
        <p:blipFill>
          <a:blip r:embed="rId2"/>
          <a:stretch/>
        </p:blipFill>
        <p:spPr>
          <a:xfrm>
            <a:off x="852480" y="1803600"/>
            <a:ext cx="5013360" cy="11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文本框 18"/>
          <p:cNvSpPr/>
          <p:nvPr/>
        </p:nvSpPr>
        <p:spPr>
          <a:xfrm>
            <a:off x="1066680" y="4173480"/>
            <a:ext cx="4459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可以通过数值微分（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Numerical Differentiation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）来计算导数，向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h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中赋入一个微小值。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59" name="图片 4" descr=""/>
          <p:cNvPicPr/>
          <p:nvPr/>
        </p:nvPicPr>
        <p:blipFill>
          <a:blip r:embed="rId3"/>
          <a:stretch/>
        </p:blipFill>
        <p:spPr>
          <a:xfrm>
            <a:off x="6821280" y="1681560"/>
            <a:ext cx="4868640" cy="18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文本框 19"/>
          <p:cNvSpPr/>
          <p:nvPr/>
        </p:nvSpPr>
        <p:spPr>
          <a:xfrm>
            <a:off x="6890040" y="4296600"/>
            <a:ext cx="4459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梯度法更新参数，</a:t>
            </a:r>
            <a:r>
              <a:rPr b="0" lang="el-GR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η 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被称为学习率（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learning rate</a:t>
            </a:r>
            <a:r>
              <a:rPr b="0" lang="zh-CN" sz="16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）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5" dur="indefinite" restart="never" nodeType="tmRoot">
          <p:childTnLst>
            <p:seq>
              <p:cTn id="116" dur="indefinite" nodeType="mainSeq">
                <p:childTnLst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6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362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363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一、量子计算概述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二、学习计划 ► </a:t>
            </a: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PlaceHolder 1"/>
          <p:cNvSpPr>
            <a:spLocks noGrp="1"/>
          </p:cNvSpPr>
          <p:nvPr>
            <p:ph type="sldNum" idx="59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0CA25B-CF22-4A18-A1E6-0174193A524C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5" name="矩形 11"/>
          <p:cNvSpPr/>
          <p:nvPr/>
        </p:nvSpPr>
        <p:spPr>
          <a:xfrm>
            <a:off x="975960" y="461520"/>
            <a:ext cx="139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参考资料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66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367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368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369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370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838080" y="1397880"/>
            <a:ext cx="10514520" cy="477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视频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推荐看李宏毅讲深度学习和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transformer </a:t>
            </a: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的视频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sng">
                <a:solidFill>
                  <a:schemeClr val="dk1"/>
                </a:solidFill>
                <a:uFillTx/>
                <a:latin typeface="Times New Roman"/>
                <a:ea typeface="宋体"/>
                <a:hlinkClick r:id="rId2"/>
              </a:rPr>
              <a:t>https://www.youtube.com/watch?v=zxQyTK8quyY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sng">
                <a:solidFill>
                  <a:schemeClr val="dk1"/>
                </a:solidFill>
                <a:uFillTx/>
                <a:latin typeface="Times New Roman"/>
                <a:ea typeface="宋体"/>
                <a:hlinkClick r:id="rId3"/>
              </a:rPr>
              <a:t>https://www.youtube.com/watch?v=ugWDIIOHtPA&amp;t=1747s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sng">
                <a:solidFill>
                  <a:schemeClr val="dk1"/>
                </a:solidFill>
                <a:uFillTx/>
                <a:latin typeface="Times New Roman"/>
                <a:ea typeface="宋体"/>
                <a:hlinkClick r:id="rId4"/>
              </a:rPr>
              <a:t>https://www.youtube.com/watch?v=eMlx5fFNoYc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sng">
                <a:solidFill>
                  <a:schemeClr val="dk1"/>
                </a:solidFill>
                <a:uFillTx/>
                <a:latin typeface="Times New Roman"/>
                <a:ea typeface="宋体"/>
                <a:hlinkClick r:id="rId5"/>
              </a:rPr>
              <a:t>https://www.youtube.com/watch?v=wjZofJX0v4M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参考资料汇总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sng">
                <a:solidFill>
                  <a:schemeClr val="dk1"/>
                </a:solidFill>
                <a:uFillTx/>
                <a:latin typeface="Times New Roman"/>
                <a:ea typeface="宋体"/>
                <a:hlinkClick r:id="rId6"/>
              </a:rPr>
              <a:t>https://docs.qq.com/doc/DVmFPb21GaGJoSHph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矩形 22"/>
          <p:cNvSpPr/>
          <p:nvPr/>
        </p:nvSpPr>
        <p:spPr>
          <a:xfrm>
            <a:off x="10371240" y="6498000"/>
            <a:ext cx="181980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374" name="矩形 17"/>
          <p:cNvSpPr/>
          <p:nvPr/>
        </p:nvSpPr>
        <p:spPr>
          <a:xfrm>
            <a:off x="0" y="0"/>
            <a:ext cx="12191040" cy="363960"/>
          </a:xfrm>
          <a:prstGeom prst="rect">
            <a:avLst/>
          </a:prstGeom>
          <a:solidFill>
            <a:srgbClr val="97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972a2a"/>
              </a:solidFill>
              <a:uFillTx/>
              <a:latin typeface="Times New Roman"/>
              <a:ea typeface="宋体"/>
            </a:endParaRPr>
          </a:p>
        </p:txBody>
      </p:sp>
      <p:sp>
        <p:nvSpPr>
          <p:cNvPr id="375" name="文本框 60"/>
          <p:cNvSpPr/>
          <p:nvPr/>
        </p:nvSpPr>
        <p:spPr>
          <a:xfrm>
            <a:off x="3714840" y="0"/>
            <a:ext cx="8476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zh-CN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一、量子计算概述 </a:t>
            </a:r>
            <a:r>
              <a:rPr b="1" lang="en-US" sz="1800" strike="noStrike" u="none">
                <a:solidFill>
                  <a:schemeClr val="lt2">
                    <a:lumMod val="75000"/>
                  </a:schemeClr>
                </a:solidFill>
                <a:uFillTx/>
                <a:latin typeface="Times New Roman"/>
                <a:ea typeface="宋体"/>
              </a:rPr>
              <a:t>► 二、学习计划 ► </a:t>
            </a:r>
            <a:r>
              <a:rPr b="1" lang="zh-CN" sz="1800" strike="noStrike" u="none">
                <a:solidFill>
                  <a:schemeClr val="lt1"/>
                </a:solidFill>
                <a:uFillTx/>
                <a:latin typeface="Times New Roman"/>
                <a:ea typeface="宋体"/>
              </a:rPr>
              <a:t>三、参考资料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sldNum" idx="60"/>
          </p:nvPr>
        </p:nvSpPr>
        <p:spPr>
          <a:xfrm>
            <a:off x="8705880" y="64886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77ACD0-6954-4423-AEC0-938621376C01}" type="slidenum">
              <a:rPr b="0" lang="en-US" sz="12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uFillTx/>
                <a:latin typeface="宋体"/>
                <a:ea typeface="宋体"/>
              </a:rPr>
              <a:t>19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7" name="矩形 11"/>
          <p:cNvSpPr/>
          <p:nvPr/>
        </p:nvSpPr>
        <p:spPr>
          <a:xfrm>
            <a:off x="973080" y="461520"/>
            <a:ext cx="789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微软雅黑"/>
                <a:ea typeface="微软雅黑"/>
              </a:rPr>
              <a:t>作业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78" name="组合 12"/>
          <p:cNvGrpSpPr/>
          <p:nvPr/>
        </p:nvGrpSpPr>
        <p:grpSpPr>
          <a:xfrm>
            <a:off x="440280" y="461520"/>
            <a:ext cx="448200" cy="429120"/>
            <a:chOff x="440280" y="461520"/>
            <a:chExt cx="448200" cy="429120"/>
          </a:xfrm>
        </p:grpSpPr>
        <p:sp>
          <p:nvSpPr>
            <p:cNvPr id="379" name="椭圆 13"/>
            <p:cNvSpPr/>
            <p:nvPr/>
          </p:nvSpPr>
          <p:spPr>
            <a:xfrm>
              <a:off x="440280" y="479520"/>
              <a:ext cx="411120" cy="411120"/>
            </a:xfrm>
            <a:prstGeom prst="ellipse">
              <a:avLst/>
            </a:prstGeom>
            <a:solidFill>
              <a:srgbClr val="97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  <p:sp>
          <p:nvSpPr>
            <p:cNvPr id="380" name="椭圆 14"/>
            <p:cNvSpPr/>
            <p:nvPr/>
          </p:nvSpPr>
          <p:spPr>
            <a:xfrm>
              <a:off x="683280" y="461520"/>
              <a:ext cx="205200" cy="205200"/>
            </a:xfrm>
            <a:prstGeom prst="ellipse">
              <a:avLst/>
            </a:prstGeom>
            <a:solidFill>
              <a:srgbClr val="c2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381" name="矩形 20"/>
          <p:cNvSpPr/>
          <p:nvPr/>
        </p:nvSpPr>
        <p:spPr>
          <a:xfrm>
            <a:off x="0" y="6498000"/>
            <a:ext cx="8200080" cy="358920"/>
          </a:xfrm>
          <a:prstGeom prst="rect">
            <a:avLst/>
          </a:prstGeom>
          <a:solidFill>
            <a:srgbClr val="972a2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34308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382" name="图片 21" descr=""/>
          <p:cNvPicPr/>
          <p:nvPr/>
        </p:nvPicPr>
        <p:blipFill>
          <a:blip r:embed="rId1"/>
          <a:stretch/>
        </p:blipFill>
        <p:spPr>
          <a:xfrm>
            <a:off x="8291520" y="6498000"/>
            <a:ext cx="198828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文本框 23"/>
          <p:cNvSpPr/>
          <p:nvPr/>
        </p:nvSpPr>
        <p:spPr>
          <a:xfrm>
            <a:off x="-223560" y="6488640"/>
            <a:ext cx="3289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343080">
              <a:lnSpc>
                <a:spcPct val="100000"/>
              </a:lnSpc>
            </a:pPr>
            <a:r>
              <a:rPr b="1" lang="zh-CN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343080">
              <a:lnSpc>
                <a:spcPct val="100000"/>
              </a:lnSpc>
            </a:pPr>
            <a:r>
              <a:rPr b="1" lang="en-US" sz="900" strike="noStrike" u="none">
                <a:solidFill>
                  <a:srgbClr val="ffffff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852480" y="1383840"/>
            <a:ext cx="10514520" cy="477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5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注：这里的层数指的是不算输出层的层数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作业一（一周时间）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编写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python</a:t>
            </a: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代码，使用二层感知机实现异或门。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作业二（两周时间）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编写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python</a:t>
            </a: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代码实现手写数字识别。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实现二层神经网络，使用随机梯度下降法更新参数。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数据集是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MNIST</a:t>
            </a: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，可直接从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torchvision.datasets</a:t>
            </a: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导入。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mini-batch</a:t>
            </a: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大小为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100</a:t>
            </a: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，训练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10,000</a:t>
            </a: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次。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输出准确率跟随训练变化的图表，每训练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100</a:t>
            </a:r>
            <a:r>
              <a:rPr b="0" lang="zh-CN" sz="2000" strike="noStrike" u="none">
                <a:solidFill>
                  <a:schemeClr val="dk1"/>
                </a:solidFill>
                <a:uFillTx/>
                <a:latin typeface="Times New Roman"/>
                <a:ea typeface="宋体"/>
              </a:rPr>
              <a:t>次计算一次准确率。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5" name="Rectangle 1"/>
          <p:cNvSpPr/>
          <p:nvPr/>
        </p:nvSpPr>
        <p:spPr>
          <a:xfrm>
            <a:off x="0" y="90000"/>
            <a:ext cx="360" cy="275760"/>
          </a:xfrm>
          <a:prstGeom prst="rect">
            <a:avLst/>
          </a:prstGeom>
          <a:solidFill>
            <a:srgbClr val="f8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宋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矩形 22"/>
          <p:cNvSpPr/>
          <p:nvPr/>
        </p:nvSpPr>
        <p:spPr>
          <a:xfrm>
            <a:off x="3278520" y="2070720"/>
            <a:ext cx="854568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533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zh-CN" sz="5330" strike="noStrike" u="none">
                <a:solidFill>
                  <a:srgbClr val="a41c34"/>
                </a:solidFill>
                <a:uFillTx/>
                <a:latin typeface="微软雅黑"/>
                <a:ea typeface="微软雅黑"/>
              </a:rPr>
              <a:t>谢谢</a:t>
            </a:r>
            <a:endParaRPr b="0" lang="en-US" sz="53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7" name="直接连接符 23"/>
          <p:cNvCxnSpPr/>
          <p:nvPr/>
        </p:nvCxnSpPr>
        <p:spPr>
          <a:xfrm flipH="1">
            <a:off x="3389760" y="3866760"/>
            <a:ext cx="6710400" cy="10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388" name="Freeform 5"/>
          <p:cNvSpPr/>
          <p:nvPr/>
        </p:nvSpPr>
        <p:spPr>
          <a:xfrm>
            <a:off x="0" y="1552320"/>
            <a:ext cx="2386800" cy="3825360"/>
          </a:xfrm>
          <a:custGeom>
            <a:avLst/>
            <a:gdLst>
              <a:gd name="textAreaLeft" fmla="*/ 0 w 2386800"/>
              <a:gd name="textAreaRight" fmla="*/ 2387880 w 2386800"/>
              <a:gd name="textAreaTop" fmla="*/ 0 h 3825360"/>
              <a:gd name="textAreaBottom" fmla="*/ 3826440 h 3825360"/>
            </a:gdLst>
            <a:ahLst/>
            <a:rect l="textAreaLeft" t="textAreaTop" r="textAreaRight" b="textAreaBottom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a41c34"/>
          </a:solidFill>
          <a:ln w="5">
            <a:solidFill>
              <a:srgbClr val="a41c34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122040" rIns="122040" tIns="60840" bIns="6084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70" strike="noStrike" u="none">
              <a:solidFill>
                <a:srgbClr val="a41c34"/>
              </a:solidFill>
              <a:uFillTx/>
              <a:latin typeface="Arial"/>
              <a:ea typeface="微软雅黑"/>
            </a:endParaRPr>
          </a:p>
        </p:txBody>
      </p:sp>
      <p:sp>
        <p:nvSpPr>
          <p:cNvPr id="389" name="Freeform 6"/>
          <p:cNvSpPr/>
          <p:nvPr/>
        </p:nvSpPr>
        <p:spPr>
          <a:xfrm>
            <a:off x="2296440" y="2937600"/>
            <a:ext cx="181800" cy="2257920"/>
          </a:xfrm>
          <a:custGeom>
            <a:avLst/>
            <a:gdLst>
              <a:gd name="textAreaLeft" fmla="*/ 0 w 181800"/>
              <a:gd name="textAreaRight" fmla="*/ 182880 w 181800"/>
              <a:gd name="textAreaTop" fmla="*/ 0 h 2257920"/>
              <a:gd name="textAreaBottom" fmla="*/ 2259000 h 2257920"/>
            </a:gdLst>
            <a:ahLst/>
            <a:rect l="textAreaLeft" t="textAreaTop" r="textAreaRight" b="textAreaBottom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a51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122040" rIns="122040" tIns="60840" bIns="6084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70" strike="noStrike" u="none">
              <a:solidFill>
                <a:srgbClr val="000000"/>
              </a:solidFill>
              <a:uFillTx/>
              <a:latin typeface="Arial"/>
              <a:ea typeface="微软雅黑"/>
            </a:endParaRPr>
          </a:p>
        </p:txBody>
      </p:sp>
      <p:pic>
        <p:nvPicPr>
          <p:cNvPr id="390" name="图片 3" descr=""/>
          <p:cNvPicPr/>
          <p:nvPr/>
        </p:nvPicPr>
        <p:blipFill>
          <a:blip r:embed="rId1"/>
          <a:stretch/>
        </p:blipFill>
        <p:spPr>
          <a:xfrm>
            <a:off x="8330760" y="0"/>
            <a:ext cx="3859920" cy="12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文本框 10"/>
          <p:cNvSpPr/>
          <p:nvPr/>
        </p:nvSpPr>
        <p:spPr>
          <a:xfrm>
            <a:off x="3390120" y="5244480"/>
            <a:ext cx="531756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zh-CN" sz="1870" strike="noStrike" u="none">
                <a:solidFill>
                  <a:srgbClr val="c00000"/>
                </a:solidFill>
                <a:uFillTx/>
                <a:latin typeface="Arial"/>
                <a:ea typeface="微软雅黑"/>
              </a:rPr>
              <a:t>华东师范大学 大数据与智能系统实验室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70" strike="noStrike" u="none">
                <a:solidFill>
                  <a:srgbClr val="c00000"/>
                </a:solidFill>
                <a:uFillTx/>
                <a:latin typeface="Arial"/>
                <a:ea typeface="微软雅黑"/>
              </a:rPr>
              <a:t>Big Data and Intelligent System Lab @ ECNU</a:t>
            </a:r>
            <a:endParaRPr b="0" lang="en-US" sz="18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p14:dur="250"/>
    </mc:Choice>
    <mc:Fallback>
      <p:transition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 pitchFamily="0" charset="1"/>
        <a:ea typeface="宋体" pitchFamily="0" charset="1"/>
        <a:cs typeface=""/>
      </a:majorFont>
      <a:minorFont>
        <a:latin typeface="Times New Roman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A000120140530A99PPBG">
  <a:themeElements>
    <a:clrScheme name="自定义 95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5409</TotalTime>
  <Application>LibreOffice/24.8.7.2$Linux_X86_64 LibreOffice_project/f4f281f562fb585d46b0af5755dfe1eb6adc047f</Application>
  <AppVersion>15.0000</AppVersion>
  <Words>1394</Words>
  <Paragraphs>164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2022-12-23T02:20:20Z</dcterms:created>
  <dc:creator>徐珑珊</dc:creator>
  <dc:description/>
  <dc:language>zh-CN</dc:language>
  <cp:lastModifiedBy/>
  <dcterms:modified xsi:type="dcterms:W3CDTF">2025-06-15T16:12:38Z</dcterms:modified>
  <cp:revision>791</cp:revision>
  <dc:subject/>
  <dc:title>量子计算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宽屏</vt:lpwstr>
  </property>
  <property fmtid="{D5CDD505-2E9C-101B-9397-08002B2CF9AE}" pid="4" name="Slides">
    <vt:i4>21</vt:i4>
  </property>
</Properties>
</file>